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sldIdLst>
    <p:sldId id="258" r:id="rId2"/>
    <p:sldId id="278" r:id="rId3"/>
    <p:sldId id="274" r:id="rId4"/>
    <p:sldId id="275" r:id="rId5"/>
    <p:sldId id="279" r:id="rId6"/>
    <p:sldId id="280" r:id="rId7"/>
    <p:sldId id="268" r:id="rId8"/>
    <p:sldId id="270" r:id="rId9"/>
    <p:sldId id="261" r:id="rId10"/>
    <p:sldId id="281" r:id="rId11"/>
    <p:sldId id="271" r:id="rId12"/>
    <p:sldId id="265" r:id="rId13"/>
  </p:sldIdLst>
  <p:sldSz cx="12192000" cy="6858000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Montserrat" panose="020B0604020202020204" charset="-52"/>
      <p:regular r:id="rId18"/>
      <p:bold r:id="rId19"/>
      <p:italic r:id="rId20"/>
      <p:boldItalic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6C2A"/>
    <a:srgbClr val="FF7300"/>
    <a:srgbClr val="0055BB"/>
    <a:srgbClr val="0061AF"/>
    <a:srgbClr val="8F9092"/>
    <a:srgbClr val="DDDEDE"/>
    <a:srgbClr val="222A3F"/>
    <a:srgbClr val="00BB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97"/>
  </p:normalViewPr>
  <p:slideViewPr>
    <p:cSldViewPr snapToGrid="0" showGuides="1">
      <p:cViewPr varScale="1">
        <p:scale>
          <a:sx n="122" d="100"/>
          <a:sy n="122" d="100"/>
        </p:scale>
        <p:origin x="96" y="29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138" y="170399"/>
            <a:ext cx="1656000" cy="883200"/>
          </a:xfrm>
          <a:prstGeom prst="rect">
            <a:avLst/>
          </a:prstGeom>
        </p:spPr>
      </p:pic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762" y="170399"/>
            <a:ext cx="1656000" cy="8832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rgbClr val="E46C2A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956" y="-135287"/>
            <a:ext cx="2376074" cy="1512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46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rgbClr val="0055BB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invGray">
          <a:xfrm>
            <a:off x="9525956" y="-144001"/>
            <a:ext cx="2376074" cy="1512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25" y="2898000"/>
            <a:ext cx="4752575" cy="396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194" y="558606"/>
            <a:ext cx="2484000" cy="1656000"/>
          </a:xfrm>
          <a:prstGeom prst="rect">
            <a:avLst/>
          </a:prstGeom>
        </p:spPr>
      </p:pic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01.01.2010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2567225"/>
            <a:ext cx="269475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98167"/>
            <a:ext cx="293604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02702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01.01.2010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2567225"/>
            <a:ext cx="269475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7" y="3198167"/>
            <a:ext cx="293604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9250"/>
            <a:ext cx="5886994" cy="408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25" y="2898000"/>
            <a:ext cx="4752575" cy="3960000"/>
          </a:xfrm>
          <a:prstGeom prst="rect">
            <a:avLst/>
          </a:prstGeom>
        </p:spPr>
      </p:pic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293604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75" r:id="rId6"/>
    <p:sldLayoutId id="2147483682" r:id="rId7"/>
    <p:sldLayoutId id="2147483681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8000/mtr/" TargetMode="External"/><Relationship Id="rId2" Type="http://schemas.openxmlformats.org/officeDocument/2006/relationships/hyperlink" Target="http://127.0.0.1:8080/chat_api/chat/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10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2023</a:t>
            </a:r>
            <a:r>
              <a:rPr lang="en-US" dirty="0"/>
              <a:t> </a:t>
            </a:r>
            <a:r>
              <a:rPr lang="ru-RU" dirty="0"/>
              <a:t>г.</a:t>
            </a: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2"/>
          </p:nvPr>
        </p:nvSpPr>
        <p:spPr>
          <a:xfrm>
            <a:off x="560193" y="2567226"/>
            <a:ext cx="8273413" cy="553480"/>
          </a:xfrm>
        </p:spPr>
        <p:txBody>
          <a:bodyPr/>
          <a:lstStyle/>
          <a:p>
            <a:r>
              <a:rPr lang="ru-RU" dirty="0">
                <a:latin typeface="Montserrat" panose="020B0604020202020204" charset="-52"/>
              </a:rPr>
              <a:t>Тема выпускной квалификационной работы</a:t>
            </a:r>
            <a:r>
              <a:rPr lang="en-US" dirty="0">
                <a:latin typeface="Montserrat" panose="020B0604020202020204" charset="-52"/>
              </a:rPr>
              <a:t>:</a:t>
            </a:r>
            <a:endParaRPr lang="ru-RU" dirty="0">
              <a:latin typeface="Montserrat" panose="020B0604020202020204" charset="-52"/>
            </a:endParaRPr>
          </a:p>
        </p:txBody>
      </p:sp>
      <p:sp>
        <p:nvSpPr>
          <p:cNvPr id="13" name="Текст 12"/>
          <p:cNvSpPr>
            <a:spLocks noGrp="1"/>
          </p:cNvSpPr>
          <p:nvPr>
            <p:ph type="body" sz="quarter" idx="13"/>
          </p:nvPr>
        </p:nvSpPr>
        <p:spPr>
          <a:xfrm>
            <a:off x="560193" y="3059790"/>
            <a:ext cx="11276672" cy="1292662"/>
          </a:xfrm>
        </p:spPr>
        <p:txBody>
          <a:bodyPr/>
          <a:lstStyle/>
          <a:p>
            <a:r>
              <a:rPr lang="ru-RU" sz="2600" dirty="0"/>
              <a:t>Разработка информационной системы «Классификатор материально-технических ресурсов» на </a:t>
            </a:r>
            <a:r>
              <a:rPr lang="ru-RU" sz="2600" dirty="0" err="1"/>
              <a:t>импортонезависимой</a:t>
            </a:r>
            <a:r>
              <a:rPr lang="ru-RU" sz="2600" dirty="0"/>
              <a:t> платформе</a:t>
            </a:r>
          </a:p>
        </p:txBody>
      </p:sp>
      <p:sp>
        <p:nvSpPr>
          <p:cNvPr id="5" name="Текст 11">
            <a:extLst>
              <a:ext uri="{FF2B5EF4-FFF2-40B4-BE49-F238E27FC236}">
                <a16:creationId xmlns:a16="http://schemas.microsoft.com/office/drawing/2014/main" id="{02264648-2CFD-4DF0-BE51-268B632F0F51}"/>
              </a:ext>
            </a:extLst>
          </p:cNvPr>
          <p:cNvSpPr txBox="1">
            <a:spLocks/>
          </p:cNvSpPr>
          <p:nvPr/>
        </p:nvSpPr>
        <p:spPr>
          <a:xfrm>
            <a:off x="560193" y="4602792"/>
            <a:ext cx="9640820" cy="72327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latin typeface="Montserrat" panose="020B0604020202020204" charset="-52"/>
              </a:rPr>
              <a:t>Выполнил</a:t>
            </a:r>
            <a:r>
              <a:rPr lang="en-US" sz="1800" dirty="0">
                <a:latin typeface="Montserrat" panose="020B0604020202020204" charset="-52"/>
              </a:rPr>
              <a:t>: </a:t>
            </a:r>
            <a:r>
              <a:rPr lang="ru-RU" sz="1800" dirty="0">
                <a:latin typeface="Montserrat" panose="020B0604020202020204" charset="-52"/>
              </a:rPr>
              <a:t>студент группы ИВТ-49Д Бурлов Г.П.</a:t>
            </a:r>
          </a:p>
          <a:p>
            <a:r>
              <a:rPr lang="ru-RU" sz="1800" dirty="0">
                <a:latin typeface="Montserrat" panose="020B0604020202020204" charset="-52"/>
              </a:rPr>
              <a:t>Научный руководитель</a:t>
            </a:r>
            <a:r>
              <a:rPr lang="en-US" sz="1800" dirty="0">
                <a:latin typeface="Montserrat" panose="020B0604020202020204" charset="-52"/>
              </a:rPr>
              <a:t>:</a:t>
            </a:r>
            <a:r>
              <a:rPr lang="ru-RU" sz="1800" dirty="0">
                <a:latin typeface="Montserrat" panose="020B0604020202020204" charset="-52"/>
              </a:rPr>
              <a:t> Инженер программист 3-го разряда Шляпкин А.А.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795AE4-CF89-4789-8AFE-6D53980D3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190" y="217879"/>
            <a:ext cx="2235201" cy="2235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292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B1861F15-30B5-43FB-8280-2B736F0B7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143658"/>
            <a:ext cx="9173513" cy="954107"/>
          </a:xfrm>
        </p:spPr>
        <p:txBody>
          <a:bodyPr/>
          <a:lstStyle/>
          <a:p>
            <a:r>
              <a:rPr lang="ru-RU" dirty="0"/>
              <a:t>Актуальность темы выпускной квалификационной работы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129B497-88BE-4E65-9BDB-49B9302BB3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9572" y="1874728"/>
            <a:ext cx="6435588" cy="155427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Уход иностранных </a:t>
            </a:r>
            <a:r>
              <a:rPr lang="en-US" sz="1800" dirty="0"/>
              <a:t>IT-</a:t>
            </a:r>
            <a:r>
              <a:rPr lang="ru-RU" sz="1800" dirty="0"/>
              <a:t>компаний с Российского рынка.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Текущий классификатор предприятия на предприятии ФГУП «Комбинат «</a:t>
            </a:r>
            <a:r>
              <a:rPr lang="ru-RU" sz="1800" dirty="0" err="1"/>
              <a:t>Электрохимприбор</a:t>
            </a:r>
            <a:r>
              <a:rPr lang="ru-RU" sz="1800" dirty="0"/>
              <a:t>» реализован с использованием проприетарных программных продуктов.</a:t>
            </a:r>
          </a:p>
        </p:txBody>
      </p:sp>
    </p:spTree>
    <p:extLst>
      <p:ext uri="{BB962C8B-B14F-4D97-AF65-F5344CB8AC3E}">
        <p14:creationId xmlns:p14="http://schemas.microsoft.com/office/powerpoint/2010/main" val="413343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ABD85AE-19FD-4F05-86A9-3CE1D4558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работы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432055A-26C6-49FD-9AB8-310606F126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28495" y="1574474"/>
            <a:ext cx="7263628" cy="4924425"/>
          </a:xfrm>
        </p:spPr>
        <p:txBody>
          <a:bodyPr/>
          <a:lstStyle/>
          <a:p>
            <a:r>
              <a:rPr lang="ru-RU" sz="2000" dirty="0"/>
              <a:t>Разработать  информационную систему со следующим функционалом</a:t>
            </a:r>
            <a:r>
              <a:rPr lang="en-US" sz="2000" dirty="0"/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Заведение заявок на новый код МТР;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Заведение заявок на условный код МТР;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Заведение заявки на изменение текущего кода МТР;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Согласование заявок</a:t>
            </a:r>
            <a:r>
              <a:rPr lang="en-US" sz="2000" dirty="0"/>
              <a:t>;</a:t>
            </a:r>
            <a:endParaRPr lang="ru-RU" sz="20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Возможность ведения переписки во время согласования кода МТР;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Просмотр кодов МТР</a:t>
            </a:r>
            <a:r>
              <a:rPr lang="en-US" sz="2000" dirty="0"/>
              <a:t>;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Заведение, редактирование цены кода МТР. Заведение дополнительных полей для ревизии кода МТР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7293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ABD85AE-19FD-4F05-86A9-3CE1D4558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432055A-26C6-49FD-9AB8-310606F126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9572" y="1525894"/>
            <a:ext cx="6747813" cy="4601260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Определение терминов. Анализ предметной области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Изучение существующей на предприятии информационной системы для дальнейшей интеграции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Составление моделей бизнес-процесса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Проектирование базы данных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Разработка серверной части приложения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Разработка клиентской части приложения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Реализация веб-сервиса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Тестирование программного продукта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800" dirty="0"/>
              <a:t>Проведение анализа эффекта от внедрения разработки на </a:t>
            </a:r>
            <a:r>
              <a:rPr lang="ru-RU" sz="1800" dirty="0" err="1"/>
              <a:t>импортонезависимой</a:t>
            </a:r>
            <a:r>
              <a:rPr lang="ru-RU" sz="1800" dirty="0"/>
              <a:t> платформе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4611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AD521-4381-4A42-A87A-6883035F4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 и предмет исследования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4C3FE-62FB-4912-AA1E-1CEE618E65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73872" y="1802010"/>
            <a:ext cx="3395208" cy="400110"/>
          </a:xfrm>
        </p:spPr>
        <p:txBody>
          <a:bodyPr/>
          <a:lstStyle/>
          <a:p>
            <a:r>
              <a:rPr lang="ru-RU" sz="2000" dirty="0"/>
              <a:t>Объект исследования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71DB841-DD52-4295-8CC4-123DD51A532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3872" y="2202120"/>
            <a:ext cx="6344148" cy="923330"/>
          </a:xfrm>
        </p:spPr>
        <p:txBody>
          <a:bodyPr/>
          <a:lstStyle/>
          <a:p>
            <a:r>
              <a:rPr lang="ru-RU" sz="1800" dirty="0"/>
              <a:t>Объект исследования - деятельность отдела снабжения и отдела главного технолога ФГУП «Комбинат «</a:t>
            </a:r>
            <a:r>
              <a:rPr lang="ru-RU" sz="1800" dirty="0" err="1"/>
              <a:t>Электрохимприбор</a:t>
            </a:r>
            <a:r>
              <a:rPr lang="ru-RU" sz="1800" dirty="0"/>
              <a:t>».</a:t>
            </a:r>
          </a:p>
        </p:txBody>
      </p:sp>
      <p:pic>
        <p:nvPicPr>
          <p:cNvPr id="5" name="Picture 2" descr="Бесплатное векторное изображение Иллюстрация вектора абстрактной концепции инициативы данных. открытая платформа, информационная инициатива, исследование метаданных, запуск на основе данных, исследования и разработки, абстрактная метафора политики конфиденциальности.">
            <a:extLst>
              <a:ext uri="{FF2B5EF4-FFF2-40B4-BE49-F238E27FC236}">
                <a16:creationId xmlns:a16="http://schemas.microsoft.com/office/drawing/2014/main" id="{8BDA0133-A122-4320-BBE5-8128FEB09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1303" y="2067848"/>
            <a:ext cx="3921125" cy="392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Текст 2">
            <a:extLst>
              <a:ext uri="{FF2B5EF4-FFF2-40B4-BE49-F238E27FC236}">
                <a16:creationId xmlns:a16="http://schemas.microsoft.com/office/drawing/2014/main" id="{F23975C7-8EE7-491F-9944-90DB5E22B49B}"/>
              </a:ext>
            </a:extLst>
          </p:cNvPr>
          <p:cNvSpPr txBox="1">
            <a:spLocks/>
          </p:cNvSpPr>
          <p:nvPr/>
        </p:nvSpPr>
        <p:spPr>
          <a:xfrm>
            <a:off x="673872" y="3259723"/>
            <a:ext cx="6344148" cy="40011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rgbClr val="00BBEE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Предмет исследования</a:t>
            </a:r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8FAE3FA3-4E7A-41E7-BCF3-7DDF3E0888E1}"/>
              </a:ext>
            </a:extLst>
          </p:cNvPr>
          <p:cNvSpPr txBox="1">
            <a:spLocks/>
          </p:cNvSpPr>
          <p:nvPr/>
        </p:nvSpPr>
        <p:spPr>
          <a:xfrm>
            <a:off x="673872" y="3659833"/>
            <a:ext cx="6344148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Предмет исследования – процесс согласования заявок на код материально технического ресурса.</a:t>
            </a:r>
          </a:p>
        </p:txBody>
      </p:sp>
    </p:spTree>
    <p:extLst>
      <p:ext uri="{BB962C8B-B14F-4D97-AF65-F5344CB8AC3E}">
        <p14:creationId xmlns:p14="http://schemas.microsoft.com/office/powerpoint/2010/main" val="329357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78FF17-7E65-49A3-A984-E38629724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143658"/>
            <a:ext cx="9173513" cy="954107"/>
          </a:xfrm>
        </p:spPr>
        <p:txBody>
          <a:bodyPr/>
          <a:lstStyle/>
          <a:p>
            <a:r>
              <a:rPr lang="ru-RU" dirty="0"/>
              <a:t>Инструменты для реализации информационной системы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220DB90-2C60-4E66-A32D-E6E342FE33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14052" y="1692805"/>
            <a:ext cx="2579868" cy="369332"/>
          </a:xfrm>
        </p:spPr>
        <p:txBody>
          <a:bodyPr/>
          <a:lstStyle/>
          <a:p>
            <a:r>
              <a:rPr lang="ru-RU" sz="1800" dirty="0"/>
              <a:t>Базы данных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AD77254-259F-4FEE-BA7C-3CDAD240DC7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14052" y="2064309"/>
            <a:ext cx="2579868" cy="33855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PostgreSQL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7211CA6E-5644-48AA-B98F-9F254C158A0E}"/>
              </a:ext>
            </a:extLst>
          </p:cNvPr>
          <p:cNvSpPr txBox="1">
            <a:spLocks/>
          </p:cNvSpPr>
          <p:nvPr/>
        </p:nvSpPr>
        <p:spPr>
          <a:xfrm>
            <a:off x="2114052" y="2439679"/>
            <a:ext cx="2579868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rgbClr val="00BBEE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Backend</a:t>
            </a:r>
            <a:endParaRPr lang="ru-RU" sz="1800" dirty="0"/>
          </a:p>
        </p:txBody>
      </p:sp>
      <p:sp>
        <p:nvSpPr>
          <p:cNvPr id="6" name="Текст 3">
            <a:extLst>
              <a:ext uri="{FF2B5EF4-FFF2-40B4-BE49-F238E27FC236}">
                <a16:creationId xmlns:a16="http://schemas.microsoft.com/office/drawing/2014/main" id="{CC9D93DA-844C-48BE-BD23-4D7330CD3BB4}"/>
              </a:ext>
            </a:extLst>
          </p:cNvPr>
          <p:cNvSpPr txBox="1">
            <a:spLocks/>
          </p:cNvSpPr>
          <p:nvPr/>
        </p:nvSpPr>
        <p:spPr>
          <a:xfrm>
            <a:off x="2114052" y="2811183"/>
            <a:ext cx="2579868" cy="89255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3.7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Django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Django rest framework</a:t>
            </a: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75D3C86A-08FB-418C-B720-692F6DF8BC2D}"/>
              </a:ext>
            </a:extLst>
          </p:cNvPr>
          <p:cNvSpPr txBox="1">
            <a:spLocks/>
          </p:cNvSpPr>
          <p:nvPr/>
        </p:nvSpPr>
        <p:spPr>
          <a:xfrm>
            <a:off x="2114052" y="3923315"/>
            <a:ext cx="2579868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rgbClr val="00BBEE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Frontend</a:t>
            </a:r>
            <a:endParaRPr lang="ru-RU" sz="1800" dirty="0"/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4AA9BFAB-9E17-468A-8B87-9F7B53C9C9B0}"/>
              </a:ext>
            </a:extLst>
          </p:cNvPr>
          <p:cNvSpPr txBox="1">
            <a:spLocks/>
          </p:cNvSpPr>
          <p:nvPr/>
        </p:nvSpPr>
        <p:spPr>
          <a:xfrm>
            <a:off x="2114052" y="4292647"/>
            <a:ext cx="2579868" cy="6001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Bootstrap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C8A6D6D-CA65-404E-A48C-CAB9BD310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442" y="1320855"/>
            <a:ext cx="2160265" cy="135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B7BB07F4-B80F-4982-B52E-C91BE35A4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014" y="2811183"/>
            <a:ext cx="1350166" cy="135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8">
            <a:extLst>
              <a:ext uri="{FF2B5EF4-FFF2-40B4-BE49-F238E27FC236}">
                <a16:creationId xmlns:a16="http://schemas.microsoft.com/office/drawing/2014/main" id="{06D829EF-DA9E-4A6D-9545-E5AADA947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0119" y="1859105"/>
            <a:ext cx="1350166" cy="135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20D7EB3-DF88-4098-8C90-BA0BD161A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9176" y="4690735"/>
            <a:ext cx="3617412" cy="1672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5A5149CA-D6F0-42F2-864D-674DA5460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6430" y="3631963"/>
            <a:ext cx="2117544" cy="2117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6584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D3F7A9-2C15-4655-BF82-91348F2F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предметной области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05226D-8C31-4D22-89D0-1F4DF20497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0260" y="2408792"/>
            <a:ext cx="6045200" cy="295465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Проанализирован существующий классификатор МТР, используемый на предприятии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Рассмотрены и определены требования к бизнес-процессу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Рассмотрены термины, используемые в информационной системе</a:t>
            </a:r>
          </a:p>
        </p:txBody>
      </p:sp>
      <p:pic>
        <p:nvPicPr>
          <p:cNvPr id="2052" name="Picture 4" descr="Бесплатное векторное изображение Дата-центр социальных сетей. статистика smm, исследования цифрового маркетинга, анализ рыночных тенденций. эксперт-женщина изучает результаты онлайн-опроса.">
            <a:extLst>
              <a:ext uri="{FF2B5EF4-FFF2-40B4-BE49-F238E27FC236}">
                <a16:creationId xmlns:a16="http://schemas.microsoft.com/office/drawing/2014/main" id="{74F80679-B629-4D27-9EAF-17DC855BC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5535" y="1898570"/>
            <a:ext cx="3975100" cy="397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69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95891E-3F15-4D4F-8ED3-02B7DD3A3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143658"/>
            <a:ext cx="8863828" cy="954107"/>
          </a:xfrm>
        </p:spPr>
        <p:txBody>
          <a:bodyPr/>
          <a:lstStyle/>
          <a:p>
            <a:r>
              <a:rPr lang="ru-RU" dirty="0"/>
              <a:t>Проектирование и разработка информационной системы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E09FD88-A951-47DF-B1C6-9174D8FDA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7383" y="2193133"/>
            <a:ext cx="6095228" cy="227754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Спроектирована и разработана база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Разработана серверная часть приложения</a:t>
            </a:r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Спроектирована и разработана клиентская часть приложения</a:t>
            </a:r>
            <a:endParaRPr lang="en-US" sz="2200" dirty="0"/>
          </a:p>
        </p:txBody>
      </p:sp>
      <p:pic>
        <p:nvPicPr>
          <p:cNvPr id="4098" name="Picture 2" descr="Бесплатное векторное изображение Член команды разработчиков и мастер схватки, работающий над agile-проектом для владельцев продукта и заинтересованных сторон. концепция управления гибкими проектами">
            <a:extLst>
              <a:ext uri="{FF2B5EF4-FFF2-40B4-BE49-F238E27FC236}">
                <a16:creationId xmlns:a16="http://schemas.microsoft.com/office/drawing/2014/main" id="{242EFCDA-7D74-441C-BBE4-00BA9570D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2183" y="2277430"/>
            <a:ext cx="4182434" cy="2786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13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C8A50A-53CD-4E60-A18D-C406CF898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базы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3100969-4CA0-4755-9A99-D414B8D5F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273" y="882321"/>
            <a:ext cx="10175454" cy="588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830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3EE661-495C-4E76-87F8-4B8B5806A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приложения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DAA24C2-7F62-4714-AC23-C6FD7770E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1275339"/>
            <a:ext cx="10401300" cy="5582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90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FD389-8B33-48F9-9908-B52725A89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143658"/>
            <a:ext cx="9173513" cy="954107"/>
          </a:xfrm>
        </p:spPr>
        <p:txBody>
          <a:bodyPr/>
          <a:lstStyle/>
          <a:p>
            <a:r>
              <a:rPr lang="ru-RU" dirty="0"/>
              <a:t>Демонстрация приложения классификатора материально-технических ресурсов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60ACD548-CCBB-4EF2-B919-63BF0B4FCB99}"/>
              </a:ext>
            </a:extLst>
          </p:cNvPr>
          <p:cNvSpPr txBox="1">
            <a:spLocks/>
          </p:cNvSpPr>
          <p:nvPr/>
        </p:nvSpPr>
        <p:spPr>
          <a:xfrm>
            <a:off x="559572" y="1951672"/>
            <a:ext cx="5536428" cy="186204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Сервис для чата располагается по адресу</a:t>
            </a:r>
            <a:r>
              <a:rPr lang="en-US" sz="2200" dirty="0"/>
              <a:t> </a:t>
            </a:r>
            <a:r>
              <a:rPr lang="en-US" sz="2200" dirty="0">
                <a:hlinkClick r:id="rId2"/>
              </a:rPr>
              <a:t>http://127.0.0.1:8080/chat_api/chat/</a:t>
            </a:r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Приложение КПМТР </a:t>
            </a:r>
            <a:r>
              <a:rPr lang="en-US" sz="2200" dirty="0">
                <a:hlinkClick r:id="rId3"/>
              </a:rPr>
              <a:t>http://127.0.0.1:8000/mtr/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360450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5E93B8E-7749-449D-B8D0-1A79ABAC77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FF676C2-8B4A-404C-866D-86294C365F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A240D3A-C612-4462-8A1D-B82785BBA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5241194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7">
      <a:dk1>
        <a:srgbClr val="171616"/>
      </a:dk1>
      <a:lt1>
        <a:srgbClr val="FFFFFF"/>
      </a:lt1>
      <a:dk2>
        <a:srgbClr val="0055BB"/>
      </a:dk2>
      <a:lt2>
        <a:srgbClr val="E2E2E2"/>
      </a:lt2>
      <a:accent1>
        <a:srgbClr val="0055BB"/>
      </a:accent1>
      <a:accent2>
        <a:srgbClr val="00BBEE"/>
      </a:accent2>
      <a:accent3>
        <a:srgbClr val="FF5000"/>
      </a:accent3>
      <a:accent4>
        <a:srgbClr val="00B050"/>
      </a:accent4>
      <a:accent5>
        <a:srgbClr val="00FFCC"/>
      </a:accent5>
      <a:accent6>
        <a:srgbClr val="FF66CC"/>
      </a:accent6>
      <a:hlink>
        <a:srgbClr val="00BBEE"/>
      </a:hlink>
      <a:folHlink>
        <a:srgbClr val="FFAE89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</TotalTime>
  <Words>310</Words>
  <Application>Microsoft Office PowerPoint</Application>
  <PresentationFormat>Широкоэкранный</PresentationFormat>
  <Paragraphs>55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Calibri</vt:lpstr>
      <vt:lpstr>Arial</vt:lpstr>
      <vt:lpstr>Montserrat</vt:lpstr>
      <vt:lpstr>Шаблон МИФИ</vt:lpstr>
      <vt:lpstr>Презентация PowerPoint</vt:lpstr>
      <vt:lpstr>Актуальность темы выпускной квалификационной работы</vt:lpstr>
      <vt:lpstr>Цель работы</vt:lpstr>
      <vt:lpstr>Задачи</vt:lpstr>
      <vt:lpstr>Объект и предмет исследования</vt:lpstr>
      <vt:lpstr>Инструменты для реализации информационной системы</vt:lpstr>
      <vt:lpstr>Анализ предметной области</vt:lpstr>
      <vt:lpstr>Проектирование и разработка информационной системы</vt:lpstr>
      <vt:lpstr>Модель базы данных</vt:lpstr>
      <vt:lpstr>Структура приложения</vt:lpstr>
      <vt:lpstr>Демонстрация приложения классификатора материально-технических ресурсов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Бурлов Георгий Павлович</cp:lastModifiedBy>
  <cp:revision>47</cp:revision>
  <dcterms:created xsi:type="dcterms:W3CDTF">2020-05-28T16:18:16Z</dcterms:created>
  <dcterms:modified xsi:type="dcterms:W3CDTF">2023-06-07T11:00:47Z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