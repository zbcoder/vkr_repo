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sldIdLst>
    <p:sldId id="258" r:id="rId2"/>
    <p:sldId id="259" r:id="rId3"/>
    <p:sldId id="260" r:id="rId4"/>
    <p:sldId id="267" r:id="rId5"/>
    <p:sldId id="269" r:id="rId6"/>
    <p:sldId id="268" r:id="rId7"/>
    <p:sldId id="270" r:id="rId8"/>
    <p:sldId id="261" r:id="rId9"/>
    <p:sldId id="271" r:id="rId10"/>
    <p:sldId id="265" r:id="rId11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Montserrat" panose="020B0604020202020204" charset="-52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2A"/>
    <a:srgbClr val="FF7300"/>
    <a:srgbClr val="0055BB"/>
    <a:srgbClr val="0061AF"/>
    <a:srgbClr val="8F9092"/>
    <a:srgbClr val="DDDEDE"/>
    <a:srgbClr val="222A3F"/>
    <a:srgbClr val="00B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97"/>
  </p:normalViewPr>
  <p:slideViewPr>
    <p:cSldViewPr snapToGrid="0" showGuides="1">
      <p:cViewPr varScale="1">
        <p:scale>
          <a:sx n="114" d="100"/>
          <a:sy n="114" d="100"/>
        </p:scale>
        <p:origin x="414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94.190.71.245:8000/api_forms/doctors/" TargetMode="External"/><Relationship Id="rId2" Type="http://schemas.openxmlformats.org/officeDocument/2006/relationships/hyperlink" Target="http://94.190.71.245:8000/api_root/doctors?page=1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07.06.2023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2"/>
          </p:nvPr>
        </p:nvSpPr>
        <p:spPr>
          <a:xfrm>
            <a:off x="560193" y="2567226"/>
            <a:ext cx="8273413" cy="553480"/>
          </a:xfrm>
        </p:spPr>
        <p:txBody>
          <a:bodyPr/>
          <a:lstStyle/>
          <a:p>
            <a:r>
              <a:rPr lang="ru-RU" dirty="0">
                <a:latin typeface="Montserrat" panose="020B0604020202020204" charset="-52"/>
              </a:rPr>
              <a:t>Тема выпускной квалификационной работы</a:t>
            </a:r>
            <a:r>
              <a:rPr lang="en-US" dirty="0">
                <a:latin typeface="Montserrat" panose="020B0604020202020204" charset="-52"/>
              </a:rPr>
              <a:t>:</a:t>
            </a:r>
            <a:endParaRPr lang="ru-RU" dirty="0">
              <a:latin typeface="Montserrat" panose="020B0604020202020204" charset="-52"/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560193" y="3059790"/>
            <a:ext cx="11276672" cy="1292662"/>
          </a:xfrm>
        </p:spPr>
        <p:txBody>
          <a:bodyPr/>
          <a:lstStyle/>
          <a:p>
            <a:r>
              <a:rPr lang="ru-RU" sz="2600" dirty="0"/>
              <a:t>Разработка информационной системы «Классификатор материально-технических ресурсов» на </a:t>
            </a:r>
            <a:r>
              <a:rPr lang="ru-RU" sz="2600" dirty="0" err="1"/>
              <a:t>импортонезависимой</a:t>
            </a:r>
            <a:r>
              <a:rPr lang="ru-RU" sz="2600" dirty="0"/>
              <a:t> платформе</a:t>
            </a:r>
          </a:p>
        </p:txBody>
      </p:sp>
      <p:sp>
        <p:nvSpPr>
          <p:cNvPr id="5" name="Текст 11">
            <a:extLst>
              <a:ext uri="{FF2B5EF4-FFF2-40B4-BE49-F238E27FC236}">
                <a16:creationId xmlns:a16="http://schemas.microsoft.com/office/drawing/2014/main" id="{02264648-2CFD-4DF0-BE51-268B632F0F51}"/>
              </a:ext>
            </a:extLst>
          </p:cNvPr>
          <p:cNvSpPr txBox="1">
            <a:spLocks/>
          </p:cNvSpPr>
          <p:nvPr/>
        </p:nvSpPr>
        <p:spPr>
          <a:xfrm>
            <a:off x="560193" y="4602792"/>
            <a:ext cx="9640820" cy="72327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latin typeface="Montserrat" panose="020B0604020202020204" charset="-52"/>
              </a:rPr>
              <a:t>Выполнил</a:t>
            </a:r>
            <a:r>
              <a:rPr lang="en-US" sz="1800" dirty="0">
                <a:latin typeface="Montserrat" panose="020B0604020202020204" charset="-52"/>
              </a:rPr>
              <a:t>: </a:t>
            </a:r>
            <a:r>
              <a:rPr lang="ru-RU" sz="1800" dirty="0">
                <a:latin typeface="Montserrat" panose="020B0604020202020204" charset="-52"/>
              </a:rPr>
              <a:t>студент группы ИВТ-49Д Бурлов Г.П.</a:t>
            </a:r>
          </a:p>
          <a:p>
            <a:r>
              <a:rPr lang="ru-RU" sz="1800" dirty="0">
                <a:latin typeface="Montserrat" panose="020B0604020202020204" charset="-52"/>
              </a:rPr>
              <a:t>Научный руководитель</a:t>
            </a:r>
            <a:r>
              <a:rPr lang="en-US" sz="1800" dirty="0">
                <a:latin typeface="Montserrat" panose="020B0604020202020204" charset="-52"/>
              </a:rPr>
              <a:t>:</a:t>
            </a:r>
            <a:r>
              <a:rPr lang="ru-RU" sz="1800" dirty="0">
                <a:latin typeface="Montserrat" panose="020B0604020202020204" charset="-52"/>
              </a:rPr>
              <a:t> Инженер программист 3-го разряда Шляпкин А.А.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795AE4-CF89-4789-8AFE-6D53980D3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399" y="146029"/>
            <a:ext cx="2155971" cy="215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7D5EACF-7929-4F98-921C-9DB62AA8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8CA3792-6E85-44BA-A22C-B6425433F4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1708390"/>
            <a:ext cx="5975452" cy="212365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Задача классификации материально-технических ресурсов является одной из самых важных и ответственных функций в обеспечении бесперебойной работы предприятий.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431D68C-3BD3-43F0-9801-E96419719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046" y="2215861"/>
            <a:ext cx="4313382" cy="242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851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4F3E63E-279A-47BF-9880-4C2350165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 и предмет исследования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4CF8BA46-7431-422A-884F-1B26F37526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1536174"/>
            <a:ext cx="6615928" cy="27546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Объектом исследования является функционирование больницы.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Предмет исследования – процесс записи на прием к врачу</a:t>
            </a:r>
          </a:p>
        </p:txBody>
      </p:sp>
      <p:pic>
        <p:nvPicPr>
          <p:cNvPr id="5122" name="Picture 2" descr="Бесплатное векторное изображение Иллюстрация вектора абстрактной концепции инициативы данных. открытая платформа, информационная инициатива, исследование метаданных, запуск на основе данных, исследования и разработки, абстрактная метафора политики конфиденциальности.">
            <a:extLst>
              <a:ext uri="{FF2B5EF4-FFF2-40B4-BE49-F238E27FC236}">
                <a16:creationId xmlns:a16="http://schemas.microsoft.com/office/drawing/2014/main" id="{8248ED24-B8D1-4287-B219-9798AE176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1741249"/>
            <a:ext cx="3921125" cy="392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251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3F7A9-2C15-4655-BF82-91348F2F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курсовой работы	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05226D-8C31-4D22-89D0-1F4DF20497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7400" y="1301671"/>
            <a:ext cx="6896100" cy="5647700"/>
          </a:xfrm>
        </p:spPr>
        <p:txBody>
          <a:bodyPr/>
          <a:lstStyle/>
          <a:p>
            <a:r>
              <a:rPr lang="ru-RU" sz="2400" dirty="0"/>
              <a:t>Цель курсовой работы - разработка </a:t>
            </a:r>
            <a:r>
              <a:rPr lang="en-US" sz="2400" dirty="0"/>
              <a:t>RESTful</a:t>
            </a:r>
            <a:r>
              <a:rPr lang="ru-RU" sz="2400" dirty="0"/>
              <a:t> сервиса для записи к врачу.</a:t>
            </a:r>
          </a:p>
          <a:p>
            <a:r>
              <a:rPr lang="ru-RU" sz="2400" dirty="0"/>
              <a:t>Определены следующие задачи</a:t>
            </a:r>
            <a:r>
              <a:rPr lang="en-US" sz="2400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Проанализировать предметную область.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Изучить понятия, связанные с реализацией </a:t>
            </a:r>
            <a:r>
              <a:rPr lang="en-US" sz="1500" dirty="0">
                <a:solidFill>
                  <a:schemeClr val="tx1"/>
                </a:solidFill>
              </a:rPr>
              <a:t>RESTful</a:t>
            </a:r>
            <a:r>
              <a:rPr lang="ru-RU" sz="1500" dirty="0">
                <a:solidFill>
                  <a:schemeClr val="tx1"/>
                </a:solidFill>
              </a:rPr>
              <a:t> сервиса (</a:t>
            </a:r>
            <a:r>
              <a:rPr lang="en-US" sz="1500" dirty="0">
                <a:solidFill>
                  <a:schemeClr val="tx1"/>
                </a:solidFill>
              </a:rPr>
              <a:t>HTTP</a:t>
            </a:r>
            <a:r>
              <a:rPr lang="ru-RU" sz="1500" dirty="0">
                <a:solidFill>
                  <a:schemeClr val="tx1"/>
                </a:solidFill>
              </a:rPr>
              <a:t>, </a:t>
            </a:r>
            <a:r>
              <a:rPr lang="en-US" sz="1500" dirty="0">
                <a:solidFill>
                  <a:schemeClr val="tx1"/>
                </a:solidFill>
              </a:rPr>
              <a:t>API</a:t>
            </a:r>
            <a:r>
              <a:rPr lang="ru-RU" sz="1500" dirty="0">
                <a:solidFill>
                  <a:schemeClr val="tx1"/>
                </a:solidFill>
              </a:rPr>
              <a:t>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Рассмотреть и выбрать способ проектирования </a:t>
            </a:r>
            <a:r>
              <a:rPr lang="en-US" sz="1500" dirty="0">
                <a:solidFill>
                  <a:schemeClr val="tx1"/>
                </a:solidFill>
              </a:rPr>
              <a:t>RESTful</a:t>
            </a:r>
            <a:r>
              <a:rPr lang="ru-RU" sz="1500" dirty="0">
                <a:solidFill>
                  <a:schemeClr val="tx1"/>
                </a:solidFill>
              </a:rPr>
              <a:t> сервиса.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Выделить открытые ресурсы </a:t>
            </a:r>
            <a:r>
              <a:rPr lang="en-US" sz="1500" dirty="0">
                <a:solidFill>
                  <a:schemeClr val="tx1"/>
                </a:solidFill>
              </a:rPr>
              <a:t>RESTful </a:t>
            </a:r>
            <a:r>
              <a:rPr lang="ru-RU" sz="1500" dirty="0">
                <a:solidFill>
                  <a:schemeClr val="tx1"/>
                </a:solidFill>
              </a:rPr>
              <a:t>сервиса.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Рассмотреть основные понятия </a:t>
            </a:r>
            <a:r>
              <a:rPr lang="en-US" sz="1500" dirty="0">
                <a:solidFill>
                  <a:schemeClr val="tx1"/>
                </a:solidFill>
              </a:rPr>
              <a:t>Django</a:t>
            </a:r>
            <a:r>
              <a:rPr lang="ru-RU" sz="1500" dirty="0">
                <a:solidFill>
                  <a:schemeClr val="tx1"/>
                </a:solidFill>
              </a:rPr>
              <a:t> и </a:t>
            </a:r>
            <a:r>
              <a:rPr lang="en-US" sz="1500" dirty="0" err="1">
                <a:solidFill>
                  <a:schemeClr val="tx1"/>
                </a:solidFill>
              </a:rPr>
              <a:t>django</a:t>
            </a:r>
            <a:r>
              <a:rPr lang="ru-RU" sz="1500" dirty="0">
                <a:solidFill>
                  <a:schemeClr val="tx1"/>
                </a:solidFill>
              </a:rPr>
              <a:t>-</a:t>
            </a:r>
            <a:r>
              <a:rPr lang="en-US" sz="1500" dirty="0">
                <a:solidFill>
                  <a:schemeClr val="tx1"/>
                </a:solidFill>
              </a:rPr>
              <a:t>rest</a:t>
            </a:r>
            <a:r>
              <a:rPr lang="ru-RU" sz="1500" dirty="0">
                <a:solidFill>
                  <a:schemeClr val="tx1"/>
                </a:solidFill>
              </a:rPr>
              <a:t>-</a:t>
            </a:r>
            <a:r>
              <a:rPr lang="en-US" sz="1500" dirty="0">
                <a:solidFill>
                  <a:schemeClr val="tx1"/>
                </a:solidFill>
              </a:rPr>
              <a:t>framework</a:t>
            </a:r>
            <a:r>
              <a:rPr lang="ru-RU" sz="1500" dirty="0">
                <a:solidFill>
                  <a:schemeClr val="tx1"/>
                </a:solidFill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Спроектировать и разработать базу данных.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Разработать </a:t>
            </a:r>
            <a:r>
              <a:rPr lang="en-US" sz="1500" dirty="0">
                <a:solidFill>
                  <a:schemeClr val="tx1"/>
                </a:solidFill>
              </a:rPr>
              <a:t>RESTful</a:t>
            </a:r>
            <a:r>
              <a:rPr lang="ru-RU" sz="1500" dirty="0">
                <a:solidFill>
                  <a:schemeClr val="tx1"/>
                </a:solidFill>
              </a:rPr>
              <a:t> сервис с использованием </a:t>
            </a:r>
            <a:r>
              <a:rPr lang="en-US" sz="1500" dirty="0" err="1">
                <a:solidFill>
                  <a:schemeClr val="tx1"/>
                </a:solidFill>
              </a:rPr>
              <a:t>django</a:t>
            </a:r>
            <a:r>
              <a:rPr lang="ru-RU" sz="1500" dirty="0">
                <a:solidFill>
                  <a:schemeClr val="tx1"/>
                </a:solidFill>
              </a:rPr>
              <a:t>-</a:t>
            </a:r>
            <a:r>
              <a:rPr lang="en-US" sz="1500" dirty="0">
                <a:solidFill>
                  <a:schemeClr val="tx1"/>
                </a:solidFill>
              </a:rPr>
              <a:t>rest</a:t>
            </a:r>
            <a:r>
              <a:rPr lang="ru-RU" sz="1500" dirty="0">
                <a:solidFill>
                  <a:schemeClr val="tx1"/>
                </a:solidFill>
              </a:rPr>
              <a:t>-</a:t>
            </a:r>
            <a:r>
              <a:rPr lang="en-US" sz="1500" dirty="0">
                <a:solidFill>
                  <a:schemeClr val="tx1"/>
                </a:solidFill>
              </a:rPr>
              <a:t>framework</a:t>
            </a:r>
            <a:r>
              <a:rPr lang="ru-RU" sz="1500" dirty="0">
                <a:solidFill>
                  <a:schemeClr val="tx1"/>
                </a:solidFill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Протестировать </a:t>
            </a:r>
            <a:r>
              <a:rPr lang="en-US" sz="1500" dirty="0">
                <a:solidFill>
                  <a:schemeClr val="tx1"/>
                </a:solidFill>
              </a:rPr>
              <a:t>RESTful</a:t>
            </a:r>
            <a:r>
              <a:rPr lang="ru-RU" sz="1500" dirty="0">
                <a:solidFill>
                  <a:schemeClr val="tx1"/>
                </a:solidFill>
              </a:rPr>
              <a:t> сервис.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chemeClr val="tx1"/>
                </a:solidFill>
              </a:rPr>
              <a:t>Создать шаблоны, которые используют функционал </a:t>
            </a:r>
            <a:r>
              <a:rPr lang="en-US" sz="1500" dirty="0">
                <a:solidFill>
                  <a:schemeClr val="tx1"/>
                </a:solidFill>
              </a:rPr>
              <a:t>RESTful </a:t>
            </a:r>
            <a:r>
              <a:rPr lang="ru-RU" sz="1500" dirty="0">
                <a:solidFill>
                  <a:schemeClr val="tx1"/>
                </a:solidFill>
              </a:rPr>
              <a:t>сервиса.</a:t>
            </a:r>
          </a:p>
          <a:p>
            <a:endParaRPr lang="ru-RU" sz="2400" dirty="0"/>
          </a:p>
        </p:txBody>
      </p:sp>
      <p:pic>
        <p:nvPicPr>
          <p:cNvPr id="1026" name="Picture 2" descr="Бесплатное векторное изображение Скрипт нестандартного стиля. оптимизация веб-сайтов, верстка, разработка программного обеспечения. женский программист мультипликационный персонаж работает, добавляя javascript, код css.">
            <a:extLst>
              <a:ext uri="{FF2B5EF4-FFF2-40B4-BE49-F238E27FC236}">
                <a16:creationId xmlns:a16="http://schemas.microsoft.com/office/drawing/2014/main" id="{773E9D85-C852-4A39-A454-5A628F337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1898571"/>
            <a:ext cx="3984625" cy="398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620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D9DD4-4C39-49F3-8970-632A89B19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143658"/>
            <a:ext cx="9460049" cy="954107"/>
          </a:xfrm>
        </p:spPr>
        <p:txBody>
          <a:bodyPr/>
          <a:lstStyle/>
          <a:p>
            <a:r>
              <a:rPr lang="ru-RU" dirty="0"/>
              <a:t>Инструменты для реализации </a:t>
            </a:r>
            <a:r>
              <a:rPr lang="en-US" dirty="0"/>
              <a:t>RESTful</a:t>
            </a:r>
            <a:r>
              <a:rPr lang="ru-RU" dirty="0"/>
              <a:t> сервиса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3C917E-9AA3-4D0B-AD73-21E38E8737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1608934"/>
            <a:ext cx="6298428" cy="4632037"/>
          </a:xfrm>
        </p:spPr>
        <p:txBody>
          <a:bodyPr/>
          <a:lstStyle/>
          <a:p>
            <a:r>
              <a:rPr lang="ru-RU" sz="2000" dirty="0"/>
              <a:t>Были выбраны следующие технологии</a:t>
            </a:r>
            <a:r>
              <a:rPr lang="en-US" sz="2000" dirty="0"/>
              <a:t>:</a:t>
            </a:r>
          </a:p>
          <a:p>
            <a:r>
              <a:rPr lang="ru-RU" sz="2000" dirty="0"/>
              <a:t>В качестве </a:t>
            </a:r>
            <a:r>
              <a:rPr lang="en-US" sz="2000" dirty="0"/>
              <a:t>IDE </a:t>
            </a:r>
            <a:r>
              <a:rPr lang="ru-RU" sz="2000" dirty="0"/>
              <a:t>был использован </a:t>
            </a:r>
            <a:r>
              <a:rPr lang="en-US" sz="2000" dirty="0"/>
              <a:t>VS Code.</a:t>
            </a:r>
            <a:endParaRPr lang="ru-RU" sz="2000" dirty="0"/>
          </a:p>
          <a:p>
            <a:r>
              <a:rPr lang="ru-RU" sz="2000" dirty="0"/>
              <a:t>Базы данных</a:t>
            </a:r>
            <a:r>
              <a:rPr lang="en-US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PostgreSQL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PgAdmin</a:t>
            </a:r>
            <a:r>
              <a:rPr lang="en-US" sz="2000" dirty="0"/>
              <a:t> 4</a:t>
            </a:r>
          </a:p>
          <a:p>
            <a:r>
              <a:rPr lang="en-US" sz="2000" dirty="0"/>
              <a:t>Backend: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Python == 3.10.5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Django == 4.0.6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Django rest framework == 0.1.0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requests == 2.28.1</a:t>
            </a:r>
          </a:p>
          <a:p>
            <a:r>
              <a:rPr lang="en-US" sz="2000" dirty="0"/>
              <a:t>Frontend: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Bootstrap 5.0</a:t>
            </a:r>
            <a:endParaRPr lang="ru-RU" sz="2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7AC21BF-D1CF-4EEA-A1FE-34ED58B7D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678" y="1540584"/>
            <a:ext cx="2160265" cy="135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52F4561-DE12-4058-8B1C-3073B1DFA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250" y="3030912"/>
            <a:ext cx="1350166" cy="135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B30AA152-C9D4-4DC6-AE97-C10030E52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355" y="2078834"/>
            <a:ext cx="1350166" cy="135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DE5DDC9-A78D-4CA5-A4C5-DF6E3A196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412" y="4910464"/>
            <a:ext cx="3617412" cy="167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433369C-7169-468D-B3DD-A5FA71529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4666" y="3851692"/>
            <a:ext cx="2117544" cy="211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699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3F7A9-2C15-4655-BF82-91348F2F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предметной области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05226D-8C31-4D22-89D0-1F4DF20497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7400" y="1898570"/>
            <a:ext cx="6045200" cy="36317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Проанализирована задача, рассмотрены различные варианты использования сервиса.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Во время анализа предметной области, были рассмотрены следующие определения</a:t>
            </a:r>
            <a:r>
              <a:rPr lang="en-US" sz="2200" dirty="0"/>
              <a:t>: HTTP, REST, API</a:t>
            </a:r>
            <a:r>
              <a:rPr lang="ru-RU" sz="2200" dirty="0"/>
              <a:t>, методы предоставляющие </a:t>
            </a:r>
            <a:r>
              <a:rPr lang="en-US" sz="2200" dirty="0"/>
              <a:t>HTTP</a:t>
            </a:r>
            <a:r>
              <a:rPr lang="ru-RU" sz="2200" dirty="0"/>
              <a:t> и статус коды данного протокола.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Проанализированы варианты создания </a:t>
            </a:r>
            <a:r>
              <a:rPr lang="en-US" sz="2200" dirty="0"/>
              <a:t>RESTful </a:t>
            </a:r>
            <a:r>
              <a:rPr lang="ru-RU" sz="2200" dirty="0"/>
              <a:t>сервисов.</a:t>
            </a:r>
          </a:p>
        </p:txBody>
      </p:sp>
      <p:pic>
        <p:nvPicPr>
          <p:cNvPr id="2052" name="Picture 4" descr="Бесплатное векторное изображение Дата-центр социальных сетей. статистика smm, исследования цифрового маркетинга, анализ рыночных тенденций. эксперт-женщина изучает результаты онлайн-опроса.">
            <a:extLst>
              <a:ext uri="{FF2B5EF4-FFF2-40B4-BE49-F238E27FC236}">
                <a16:creationId xmlns:a16="http://schemas.microsoft.com/office/drawing/2014/main" id="{74F80679-B629-4D27-9EAF-17DC855BC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5535" y="1898570"/>
            <a:ext cx="3975100" cy="397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69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95891E-3F15-4D4F-8ED3-02B7DD3A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143658"/>
            <a:ext cx="8863828" cy="954107"/>
          </a:xfrm>
        </p:spPr>
        <p:txBody>
          <a:bodyPr/>
          <a:lstStyle/>
          <a:p>
            <a:r>
              <a:rPr lang="ru-RU" dirty="0"/>
              <a:t>Проектирование и разработка </a:t>
            </a:r>
            <a:r>
              <a:rPr lang="en-US" dirty="0"/>
              <a:t>RESTful</a:t>
            </a:r>
            <a:r>
              <a:rPr lang="ru-RU" dirty="0"/>
              <a:t> сервиса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09FD88-A951-47DF-B1C6-9174D8FDA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2193134"/>
            <a:ext cx="6095228" cy="295465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Были выделены ресурсы</a:t>
            </a:r>
            <a:r>
              <a:rPr lang="en-US" sz="2200" dirty="0"/>
              <a:t>(URI)</a:t>
            </a:r>
            <a:r>
              <a:rPr lang="ru-RU" sz="2200" dirty="0"/>
              <a:t>, которые будут использоваться веб-сервисом.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Рассмотрены основные понятия используемые в </a:t>
            </a:r>
            <a:r>
              <a:rPr lang="en-US" sz="2200" dirty="0"/>
              <a:t>Django (Templates, Views, Serializers, Paginators)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Спроектирована база данных</a:t>
            </a:r>
            <a:r>
              <a:rPr lang="en-US" sz="2200" dirty="0"/>
              <a:t> (</a:t>
            </a:r>
            <a:r>
              <a:rPr lang="en-US" sz="2200" dirty="0" err="1"/>
              <a:t>PgAdmin</a:t>
            </a:r>
            <a:r>
              <a:rPr lang="ru-RU" sz="2200" dirty="0"/>
              <a:t> 4</a:t>
            </a:r>
            <a:r>
              <a:rPr lang="en-US" sz="2200" dirty="0"/>
              <a:t>, PostgreSQL 13)</a:t>
            </a:r>
          </a:p>
        </p:txBody>
      </p:sp>
      <p:pic>
        <p:nvPicPr>
          <p:cNvPr id="4098" name="Picture 2" descr="Бесплатное векторное изображение Член команды разработчиков и мастер схватки, работающий над agile-проектом для владельцев продукта и заинтересованных сторон. концепция управления гибкими проектами">
            <a:extLst>
              <a:ext uri="{FF2B5EF4-FFF2-40B4-BE49-F238E27FC236}">
                <a16:creationId xmlns:a16="http://schemas.microsoft.com/office/drawing/2014/main" id="{242EFCDA-7D74-441C-BBE4-00BA9570D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183" y="2277430"/>
            <a:ext cx="4182434" cy="278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1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базы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984CBB-0DCC-4620-A4B0-8447C78414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1239367"/>
            <a:ext cx="3873883" cy="842165"/>
          </a:xfrm>
        </p:spPr>
        <p:txBody>
          <a:bodyPr/>
          <a:lstStyle/>
          <a:p>
            <a:r>
              <a:rPr lang="ru-RU" sz="2200" dirty="0"/>
              <a:t>Модель базы данных в приложении </a:t>
            </a:r>
            <a:r>
              <a:rPr lang="en-US" sz="2200" dirty="0"/>
              <a:t>PgAdmin4</a:t>
            </a:r>
            <a:endParaRPr lang="ru-RU" sz="2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5F7E20-C4C0-419F-B4F7-9F43D2DDD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044" y="1239367"/>
            <a:ext cx="4806662" cy="479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30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EFD389-8B33-48F9-9908-B52725A89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143658"/>
            <a:ext cx="9173513" cy="954107"/>
          </a:xfrm>
        </p:spPr>
        <p:txBody>
          <a:bodyPr/>
          <a:lstStyle/>
          <a:p>
            <a:r>
              <a:rPr lang="ru-RU" dirty="0"/>
              <a:t>Проверка работоспособности </a:t>
            </a:r>
            <a:r>
              <a:rPr lang="en-US" dirty="0"/>
              <a:t>RESTful </a:t>
            </a:r>
            <a:r>
              <a:rPr lang="ru-RU" dirty="0"/>
              <a:t>сервиса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60ACD548-CCBB-4EF2-B919-63BF0B4FCB99}"/>
              </a:ext>
            </a:extLst>
          </p:cNvPr>
          <p:cNvSpPr txBox="1">
            <a:spLocks/>
          </p:cNvSpPr>
          <p:nvPr/>
        </p:nvSpPr>
        <p:spPr>
          <a:xfrm>
            <a:off x="559572" y="1951672"/>
            <a:ext cx="5536428" cy="253915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RESTful</a:t>
            </a:r>
            <a:r>
              <a:rPr lang="ru-RU" sz="2200" dirty="0"/>
              <a:t> сервис</a:t>
            </a:r>
            <a:r>
              <a:rPr lang="en-US" sz="2200" dirty="0"/>
              <a:t> </a:t>
            </a:r>
            <a:r>
              <a:rPr lang="ru-RU" sz="2200" dirty="0"/>
              <a:t>располагается по адресу</a:t>
            </a:r>
            <a:r>
              <a:rPr lang="en-US" sz="2200" dirty="0"/>
              <a:t>: </a:t>
            </a:r>
            <a:r>
              <a:rPr lang="en-US" sz="2200" dirty="0">
                <a:hlinkClick r:id="rId2"/>
              </a:rPr>
              <a:t>http://94.190.71.245:8000/api_root/doctors?page=1</a:t>
            </a: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Приложение для проверки </a:t>
            </a:r>
            <a:r>
              <a:rPr lang="en-US" sz="2200" dirty="0">
                <a:hlinkClick r:id="rId3"/>
              </a:rPr>
              <a:t>http://94.190.71.245:8000/api_forms/doctors/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60450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5E93B8E-7749-449D-B8D0-1A79ABAC77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F676C2-8B4A-404C-866D-86294C365F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A240D3A-C612-4462-8A1D-B82785BBAB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241194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346</Words>
  <Application>Microsoft Office PowerPoint</Application>
  <PresentationFormat>Широкоэкранный</PresentationFormat>
  <Paragraphs>48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Montserrat</vt:lpstr>
      <vt:lpstr>Arial</vt:lpstr>
      <vt:lpstr>Calibri</vt:lpstr>
      <vt:lpstr>Шаблон МИФИ</vt:lpstr>
      <vt:lpstr>Презентация PowerPoint</vt:lpstr>
      <vt:lpstr>Актуальность темы</vt:lpstr>
      <vt:lpstr>Объект и предмет исследования</vt:lpstr>
      <vt:lpstr>Цель и задачи курсовой работы </vt:lpstr>
      <vt:lpstr>Инструменты для реализации RESTful сервиса</vt:lpstr>
      <vt:lpstr>Анализ предметной области</vt:lpstr>
      <vt:lpstr>Проектирование и разработка RESTful сервиса</vt:lpstr>
      <vt:lpstr>Модель базы данных</vt:lpstr>
      <vt:lpstr>Проверка работоспособности RESTful сервиса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Георгий Бурлов</cp:lastModifiedBy>
  <cp:revision>34</cp:revision>
  <dcterms:created xsi:type="dcterms:W3CDTF">2020-05-28T16:18:16Z</dcterms:created>
  <dcterms:modified xsi:type="dcterms:W3CDTF">2023-06-06T13:45:08Z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